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88920"/>
            <a:ext cx="12191695" cy="45720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E6EDF3"/>
                </a:solidFill>
                <a:latin typeface="Calibri"/>
              </a:rPr>
              <a:t>Nx AI Manager — Stress Dashboard</a:t>
            </a:r>
          </a:p>
          <a:p>
            <a:pPr algn="l">
              <a:spcAft>
                <a:spcPts val="1000"/>
              </a:spcAft>
            </a:pPr>
            <a:r>
              <a:rPr sz="4000" b="1">
                <a:solidFill>
                  <a:srgbClr val="A371F7"/>
                </a:solidFill>
                <a:latin typeface="Calibri"/>
              </a:rPr>
              <a:t>Post-Processor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8B949E"/>
                </a:solidFill>
                <a:latin typeface="Calibri"/>
              </a:rPr>
              <a:t>Capacity planning &amp; stress testing for the NX AI Manager  ·  Nx Meta and Nx Witness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Live CPU / RAM / GPU / NPU load  ·  total &amp; per-channel inference FPS  ·  exportable reports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8B949E"/>
                </a:solidFill>
                <a:latin typeface="Calibri"/>
              </a:rPr>
              <a:t>Network Optix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Calibri"/>
              </a:rPr>
              <a:t>Overview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What it is and why it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110642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>
                <a:solidFill>
                  <a:srgbClr val="E6EDF3"/>
                </a:solidFill>
                <a:latin typeface="Calibri"/>
              </a:rPr>
              <a:t>A custom NX AI Manager post-processor that answers the question every integrator faces: “For this model and this many cameras, what frame rate do I actually get, and how hard is the hardware working?”</a:t>
            </a:r>
          </a:p>
          <a:p>
            <a:pPr algn="l">
              <a:spcAft>
                <a:spcPts val="600"/>
              </a:spcAft>
            </a:pPr>
            <a:r>
              <a:rPr sz="1700" b="0">
                <a:solidFill>
                  <a:srgbClr val="8B949E"/>
                </a:solidFill>
                <a:latin typeface="Calibri"/>
              </a:rPr>
              <a:t>It runs as a transparent pass-through — measuring throughput without altering inference results — and pairs that with whole-machine resource load.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110642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F81F7"/>
                </a:solidFill>
                <a:latin typeface="Calibri"/>
              </a:rPr>
              <a:t>What it solves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E6EDF3"/>
                </a:solidFill>
                <a:latin typeface="Calibri"/>
              </a:rPr>
              <a:t>•  Capacity planning — </a:t>
            </a:r>
            <a:r>
              <a:rPr sz="1700">
                <a:solidFill>
                  <a:srgbClr val="E6EDF3"/>
                </a:solidFill>
                <a:latin typeface="Calibri"/>
              </a:rPr>
              <a:t>how many channels can a box sustain before FPS drops?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E6EDF3"/>
                </a:solidFill>
                <a:latin typeface="Calibri"/>
              </a:rPr>
              <a:t>•  Bottleneck ID — </a:t>
            </a:r>
            <a:r>
              <a:rPr sz="1700">
                <a:solidFill>
                  <a:srgbClr val="E6EDF3"/>
                </a:solidFill>
                <a:latin typeface="Calibri"/>
              </a:rPr>
              <a:t>which resource saturates first: CPU, GPU or NPU?</a:t>
            </a:r>
          </a:p>
          <a:p>
            <a:pPr>
              <a:spcAft>
                <a:spcPts val="1000"/>
              </a:spcAft>
            </a:pPr>
            <a:r>
              <a:rPr b="1" sz="1700">
                <a:solidFill>
                  <a:srgbClr val="E6EDF3"/>
                </a:solidFill>
                <a:latin typeface="Calibri"/>
              </a:rPr>
              <a:t>•  Benchmarking — </a:t>
            </a:r>
            <a:r>
              <a:rPr sz="1700">
                <a:solidFill>
                  <a:srgbClr val="E6EDF3"/>
                </a:solidFill>
                <a:latin typeface="Calibri"/>
              </a:rPr>
              <a:t>repeatable, shareable reports per model + camera-count +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Calibri"/>
              </a:rPr>
              <a:t>How it works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Two cooperating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642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A371F7"/>
                </a:solidFill>
                <a:latin typeface="Calibri"/>
              </a:rPr>
              <a:t>Post-processor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Counts inference frames per camera channel (by DeviceID) and forwards per-second counts to the web app. Never modifies the inference results.</a:t>
            </a:r>
          </a:p>
          <a:p>
            <a:pPr algn="l">
              <a:spcAft>
                <a:spcPts val="400"/>
              </a:spcAft>
            </a:pPr>
            <a:r>
              <a:rPr sz="1800" b="1">
                <a:solidFill>
                  <a:srgbClr val="2F81F7"/>
                </a:solidFill>
                <a:latin typeface="Calibri"/>
              </a:rPr>
              <a:t>Web app</a:t>
            </a:r>
          </a:p>
          <a:p>
            <a:pPr algn="l">
              <a:spcAft>
                <a:spcPts val="8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Samples whole-machine CPU/RAM/GPU/NPU once per second, turns frame counts into FPS, serves the live dashboard, records named runs, and exports reports.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21208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8B949E"/>
                </a:solidFill>
                <a:latin typeface="Calibri"/>
              </a:rPr>
              <a:t>Data path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3FB950"/>
                </a:solidFill>
                <a:latin typeface="Calibri"/>
              </a:rPr>
              <a:t>NX AI Manager  →  (Unix socket)  →  Post-processor  →  (HTTP)  →  Web app  →  SQLite  →  Dashboard / Report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Calibri"/>
              </a:rPr>
              <a:t>What it measures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…and where the numbers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554480"/>
            <a:ext cx="56692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F81F7"/>
                </a:solidFill>
                <a:latin typeface="Calibri"/>
              </a:rPr>
              <a:t>Capabilities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•  Live resource load — CPU, RAM, GPU, NPU (whole machine)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•  Total throughput — concurrent inference FPS, all channels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•  Per-channel FPS — by DeviceID, renamable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•  Stress report — named run → HTML (charts + avg/peak/min/p95) + CSV</a:t>
            </a:r>
          </a:p>
          <a:p>
            <a:pPr algn="l">
              <a:spcAft>
                <a:spcPts val="1000"/>
              </a:spcAft>
            </a:pPr>
            <a:r>
              <a:rPr sz="1600" b="0">
                <a:solidFill>
                  <a:srgbClr val="E6EDF3"/>
                </a:solidFill>
                <a:latin typeface="Calibri"/>
              </a:rPr>
              <a:t>•  Portable — auto-detects Nx Meta &amp; Witness; sources degrade gracefully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21208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800" b="1">
                <a:solidFill>
                  <a:srgbClr val="2F81F7"/>
                </a:solidFill>
                <a:latin typeface="Calibri"/>
              </a:rPr>
              <a:t>Metric sources (Linux)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EDF3"/>
                </a:solidFill>
                <a:latin typeface="Calibri"/>
              </a:rPr>
              <a:t>•  CPU / RAM — </a:t>
            </a:r>
            <a:r>
              <a:rPr sz="1600">
                <a:solidFill>
                  <a:srgbClr val="8B949E"/>
                </a:solidFill>
                <a:latin typeface="Calibri"/>
              </a:rPr>
              <a:t>psutil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EDF3"/>
                </a:solidFill>
                <a:latin typeface="Calibri"/>
              </a:rPr>
              <a:t>•  Intel NPU — </a:t>
            </a:r>
            <a:r>
              <a:rPr sz="1600">
                <a:solidFill>
                  <a:srgbClr val="8B949E"/>
                </a:solidFill>
                <a:latin typeface="Calibri"/>
              </a:rPr>
              <a:t>intel_vpu sysfs busy-time (no root)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EDF3"/>
                </a:solidFill>
                <a:latin typeface="Calibri"/>
              </a:rPr>
              <a:t>•  Intel iGPU — </a:t>
            </a:r>
            <a:r>
              <a:rPr sz="1600">
                <a:solidFill>
                  <a:srgbClr val="8B949E"/>
                </a:solidFill>
                <a:latin typeface="Calibri"/>
              </a:rPr>
              <a:t>xe / i915 DRM fdinfo (root) · freq fallback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EDF3"/>
                </a:solidFill>
                <a:latin typeface="Calibri"/>
              </a:rPr>
              <a:t>•  NVIDIA — </a:t>
            </a:r>
            <a:r>
              <a:rPr sz="1600">
                <a:solidFill>
                  <a:srgbClr val="8B949E"/>
                </a:solidFill>
                <a:latin typeface="Calibri"/>
              </a:rPr>
              <a:t>NVML: util, mem, power, temp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Calibri"/>
              </a:rPr>
              <a:t>Live Dashboard — simulated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16 cameras · People Detection (high accuracy) · Intel CPU inference</a:t>
            </a:r>
          </a:p>
        </p:txBody>
      </p:sp>
      <p:pic>
        <p:nvPicPr>
          <p:cNvPr id="4" name="Picture 3" descr="dummy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25880"/>
            <a:ext cx="4599024" cy="53492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26480" y="1417320"/>
            <a:ext cx="566928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F81F7"/>
                </a:solidFill>
                <a:latin typeface="Calibri"/>
              </a:rPr>
              <a:t>Reading the example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EDF3"/>
                </a:solidFill>
                <a:latin typeface="Calibri"/>
              </a:rPr>
              <a:t>•  Throughput — </a:t>
            </a:r>
            <a:r>
              <a:rPr sz="1600">
                <a:solidFill>
                  <a:srgbClr val="E6EDF3"/>
                </a:solidFill>
                <a:latin typeface="Calibri"/>
              </a:rPr>
              <a:t>~94.8 FPS across 16 channels (~5.9 FPS/camera).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EDF3"/>
                </a:solidFill>
                <a:latin typeface="Calibri"/>
              </a:rPr>
              <a:t>•  Where the load is — </a:t>
            </a:r>
            <a:r>
              <a:rPr sz="1600">
                <a:solidFill>
                  <a:srgbClr val="E6EDF3"/>
                </a:solidFill>
                <a:latin typeface="Calibri"/>
              </a:rPr>
              <a:t>CPU is the bottleneck at ~82%; iGPU (~3%) and NPU (~0%) sit idle — expected when inference is pinned to the CPU.</a:t>
            </a:r>
          </a:p>
          <a:p>
            <a:pPr>
              <a:spcAft>
                <a:spcPts val="1200"/>
              </a:spcAft>
            </a:pPr>
            <a:r>
              <a:rPr b="1" sz="1600">
                <a:solidFill>
                  <a:srgbClr val="E6EDF3"/>
                </a:solidFill>
                <a:latin typeface="Calibri"/>
              </a:rPr>
              <a:t>•  Takeaway — </a:t>
            </a:r>
            <a:r>
              <a:rPr sz="1600">
                <a:solidFill>
                  <a:srgbClr val="E6EDF3"/>
                </a:solidFill>
                <a:latin typeface="Calibri"/>
              </a:rPr>
              <a:t>offloading to the NPU or iGPU would free CPU headroom and raise the achievable channel count.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Calibri"/>
              </a:rPr>
              <a:t>Stress-Test Report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Self-contained HTML + CSV export per run</a:t>
            </a:r>
          </a:p>
        </p:txBody>
      </p:sp>
      <p:pic>
        <p:nvPicPr>
          <p:cNvPr id="4" name="Picture 3" descr="dummy_repo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3275052" cy="54406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80560" y="1371600"/>
            <a:ext cx="731520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2F81F7"/>
                </a:solidFill>
                <a:latin typeface="Calibri"/>
              </a:rPr>
              <a:t>Summary — avg / peak / min / p95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A371F7"/>
                </a:solidFill>
                <a:latin typeface="Calibri"/>
              </a:rPr>
              <a:t>•  Total inference FPS:  </a:t>
            </a:r>
            <a:r>
              <a:rPr sz="1600">
                <a:solidFill>
                  <a:srgbClr val="E6EDF3"/>
                </a:solidFill>
                <a:latin typeface="Consolas"/>
              </a:rPr>
              <a:t>89.41 / 98.15 / 81.39 / 96.48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2F81F7"/>
                </a:solidFill>
                <a:latin typeface="Calibri"/>
              </a:rPr>
              <a:t>•  CPU load:  </a:t>
            </a:r>
            <a:r>
              <a:rPr sz="1600">
                <a:solidFill>
                  <a:srgbClr val="E6EDF3"/>
                </a:solidFill>
                <a:latin typeface="Consolas"/>
              </a:rPr>
              <a:t>80.47% / 84.8% / 75.5% / 84%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D29922"/>
                </a:solidFill>
                <a:latin typeface="Calibri"/>
              </a:rPr>
              <a:t>•  RAM used:  </a:t>
            </a:r>
            <a:r>
              <a:rPr sz="1600">
                <a:solidFill>
                  <a:srgbClr val="E6EDF3"/>
                </a:solidFill>
                <a:latin typeface="Consolas"/>
              </a:rPr>
              <a:t>7206.54 MB / 7399.8 MB / 7000.2 MB / 7380.6 MB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3FB950"/>
                </a:solidFill>
                <a:latin typeface="Calibri"/>
              </a:rPr>
              <a:t>•  Intel iGPU load:  </a:t>
            </a:r>
            <a:r>
              <a:rPr sz="1600">
                <a:solidFill>
                  <a:srgbClr val="E6EDF3"/>
                </a:solidFill>
                <a:latin typeface="Consolas"/>
              </a:rPr>
              <a:t>3.13% / 4.5% / 1.5% / 4.4%</a:t>
            </a:r>
          </a:p>
          <a:p>
            <a:pPr>
              <a:spcAft>
                <a:spcPts val="1000"/>
              </a:spcAft>
            </a:pPr>
            <a:r>
              <a:rPr b="1" sz="1600">
                <a:solidFill>
                  <a:srgbClr val="DB61A2"/>
                </a:solidFill>
                <a:latin typeface="Calibri"/>
              </a:rPr>
              <a:t>•  Intel NPU load:  </a:t>
            </a:r>
            <a:r>
              <a:rPr sz="1600">
                <a:solidFill>
                  <a:srgbClr val="E6EDF3"/>
                </a:solidFill>
                <a:latin typeface="Consolas"/>
              </a:rPr>
              <a:t>0% / 0% / 0% / 0%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alibri"/>
              </a:rPr>
              <a:t>Run: People Detection HA · 16 cameras · 1920×1080 · 180 s · DELL Core Ultra 7 265.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Also embeds per-camera FPS and time-series charts (FPS + resource load); opens offline.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F8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84048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3000" b="1">
                <a:solidFill>
                  <a:srgbClr val="E6EDF3"/>
                </a:solidFill>
                <a:latin typeface="Calibri"/>
              </a:rPr>
              <a:t>Deployment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8B949E"/>
                </a:solidFill>
                <a:latin typeface="Calibri"/>
              </a:rPr>
              <a:t>One command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E6EDF3"/>
                </a:solidFill>
                <a:latin typeface="Calibri"/>
              </a:rPr>
              <a:t>Auto-detects Meta vs Witness, installs deps, registers the post-processor without clobbering others, and starts the web app: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743200"/>
            <a:ext cx="11064240" cy="777240"/>
          </a:xfrm>
          <a:prstGeom prst="roundRect">
            <a:avLst/>
          </a:prstGeom>
          <a:solidFill>
            <a:srgbClr val="161B22"/>
          </a:solidFill>
          <a:ln w="9525">
            <a:solidFill>
              <a:srgbClr val="2F8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>
                <a:solidFill>
                  <a:srgbClr val="3FB950"/>
                </a:solidFill>
                <a:latin typeface="Consolas"/>
              </a:rPr>
              <a:t>./deploy.sh &lt;server_ip&gt; &lt;ssh_user&gt; &lt;ssh_password&gt; 8120 --start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>
                <a:solidFill>
                  <a:srgbClr val="E6EDF3"/>
                </a:solidFill>
                <a:latin typeface="Calibri"/>
              </a:rPr>
              <a:t>Then open  http://&lt;server&gt;:8120,  enable “Stress Dashboard” on the cameras under test, and run the model.</a:t>
            </a:r>
          </a:p>
          <a:p>
            <a:pPr algn="l">
              <a:spcAft>
                <a:spcPts val="1400"/>
              </a:spcAft>
            </a:pPr>
            <a:r>
              <a:rPr sz="1500" b="0">
                <a:solidFill>
                  <a:srgbClr val="8B949E"/>
                </a:solidFill>
                <a:latin typeface="Calibri"/>
              </a:rPr>
              <a:t>Run the web app as root for true Intel iGPU engine utilisation; CPU, RAM and NPU work without root. GPU/NPU load reads ~0 until inference actually runs on that device.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8B949E"/>
                </a:solidFill>
                <a:latin typeface="Calibri"/>
              </a:rPr>
              <a:t>Network Optix · NX AI Manager — Stress Dashboard post-processor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